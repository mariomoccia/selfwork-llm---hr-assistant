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Montserrat SemiBold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  <p:embeddedFont>
      <p:font typeface="Montserrat Medium"/>
      <p:regular r:id="rId37"/>
      <p:bold r:id="rId38"/>
      <p:italic r:id="rId39"/>
      <p:boldItalic r:id="rId40"/>
    </p:embeddedFont>
    <p:embeddedFont>
      <p:font typeface="Lato Light"/>
      <p:regular r:id="rId41"/>
      <p:bold r:id="rId42"/>
      <p:italic r:id="rId43"/>
      <p:boldItalic r:id="rId44"/>
    </p:embeddedFont>
    <p:embeddedFont>
      <p:font typeface="Montserrat Light"/>
      <p:regular r:id="rId45"/>
      <p:bold r:id="rId46"/>
      <p:italic r:id="rId47"/>
      <p:boldItalic r:id="rId48"/>
    </p:embeddedFont>
    <p:embeddedFont>
      <p:font typeface="Montserrat ExtraLight"/>
      <p:regular r:id="rId49"/>
      <p:bold r:id="rId50"/>
      <p:italic r:id="rId51"/>
      <p:boldItalic r:id="rId52"/>
    </p:embeddedFont>
    <p:embeddedFont>
      <p:font typeface="Barlow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70">
          <p15:clr>
            <a:srgbClr val="9AA0A6"/>
          </p15:clr>
        </p15:guide>
        <p15:guide id="2" pos="2880">
          <p15:clr>
            <a:srgbClr val="A4A3A4"/>
          </p15:clr>
        </p15:guide>
        <p15:guide id="3" orient="horz" pos="987">
          <p15:clr>
            <a:srgbClr val="747775"/>
          </p15:clr>
        </p15:guide>
        <p15:guide id="4" orient="horz" pos="756">
          <p15:clr>
            <a:srgbClr val="747775"/>
          </p15:clr>
        </p15:guide>
      </p15:sldGuideLst>
    </p:ext>
    <p:ext uri="GoogleSlidesCustomDataVersion2">
      <go:slidesCustomData xmlns:go="http://customooxmlschemas.google.com/" r:id="rId57" roundtripDataSignature="AMtx7miFsN7zO2t4DkxPfEiwYvRnTm+y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8BFD60-6F35-40A2-9914-84AD3F691323}">
  <a:tblStyle styleId="{CC8BFD60-6F35-40A2-9914-84AD3F6913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70" orient="horz"/>
        <p:guide pos="2880"/>
        <p:guide pos="987" orient="horz"/>
        <p:guide pos="75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boldItalic.fntdata"/><Relationship Id="rId42" Type="http://schemas.openxmlformats.org/officeDocument/2006/relationships/font" Target="fonts/LatoLight-bold.fntdata"/><Relationship Id="rId41" Type="http://schemas.openxmlformats.org/officeDocument/2006/relationships/font" Target="fonts/LatoLight-regular.fntdata"/><Relationship Id="rId44" Type="http://schemas.openxmlformats.org/officeDocument/2006/relationships/font" Target="fonts/LatoLight-boldItalic.fntdata"/><Relationship Id="rId43" Type="http://schemas.openxmlformats.org/officeDocument/2006/relationships/font" Target="fonts/LatoLight-italic.fntdata"/><Relationship Id="rId46" Type="http://schemas.openxmlformats.org/officeDocument/2006/relationships/font" Target="fonts/MontserratLight-bold.fntdata"/><Relationship Id="rId45" Type="http://schemas.openxmlformats.org/officeDocument/2006/relationships/font" Target="fonts/Montserrat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Light-boldItalic.fntdata"/><Relationship Id="rId47" Type="http://schemas.openxmlformats.org/officeDocument/2006/relationships/font" Target="fonts/MontserratLight-italic.fntdata"/><Relationship Id="rId49" Type="http://schemas.openxmlformats.org/officeDocument/2006/relationships/font" Target="fonts/MontserratExtra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33" Type="http://schemas.openxmlformats.org/officeDocument/2006/relationships/font" Target="fonts/Lato-regular.fntdata"/><Relationship Id="rId32" Type="http://schemas.openxmlformats.org/officeDocument/2006/relationships/font" Target="fonts/Montserrat-boldItalic.fntdata"/><Relationship Id="rId35" Type="http://schemas.openxmlformats.org/officeDocument/2006/relationships/font" Target="fonts/Lato-italic.fntdata"/><Relationship Id="rId34" Type="http://schemas.openxmlformats.org/officeDocument/2006/relationships/font" Target="fonts/Lato-bold.fntdata"/><Relationship Id="rId37" Type="http://schemas.openxmlformats.org/officeDocument/2006/relationships/font" Target="fonts/MontserratMedium-regular.fntdata"/><Relationship Id="rId36" Type="http://schemas.openxmlformats.org/officeDocument/2006/relationships/font" Target="fonts/Lato-boldItalic.fntdata"/><Relationship Id="rId39" Type="http://schemas.openxmlformats.org/officeDocument/2006/relationships/font" Target="fonts/MontserratMedium-italic.fntdata"/><Relationship Id="rId38" Type="http://schemas.openxmlformats.org/officeDocument/2006/relationships/font" Target="fonts/MontserratMedium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font" Target="fonts/MontserratSemiBold-bold.fntdata"/><Relationship Id="rId25" Type="http://schemas.openxmlformats.org/officeDocument/2006/relationships/font" Target="fonts/MontserratSemiBold-regular.fntdata"/><Relationship Id="rId28" Type="http://schemas.openxmlformats.org/officeDocument/2006/relationships/font" Target="fonts/MontserratSemiBold-boldItalic.fntdata"/><Relationship Id="rId27" Type="http://schemas.openxmlformats.org/officeDocument/2006/relationships/font" Target="fonts/MontserratSemiBold-italic.fntdata"/><Relationship Id="rId29" Type="http://schemas.openxmlformats.org/officeDocument/2006/relationships/font" Target="fonts/Montserrat-regular.fntdata"/><Relationship Id="rId51" Type="http://schemas.openxmlformats.org/officeDocument/2006/relationships/font" Target="fonts/MontserratExtraLight-italic.fntdata"/><Relationship Id="rId50" Type="http://schemas.openxmlformats.org/officeDocument/2006/relationships/font" Target="fonts/MontserratExtraLight-bold.fntdata"/><Relationship Id="rId53" Type="http://schemas.openxmlformats.org/officeDocument/2006/relationships/font" Target="fonts/Barlow-regular.fntdata"/><Relationship Id="rId52" Type="http://schemas.openxmlformats.org/officeDocument/2006/relationships/font" Target="fonts/MontserratExtraLight-boldItalic.fntdata"/><Relationship Id="rId11" Type="http://schemas.openxmlformats.org/officeDocument/2006/relationships/slide" Target="slides/slide5.xml"/><Relationship Id="rId55" Type="http://schemas.openxmlformats.org/officeDocument/2006/relationships/font" Target="fonts/Barlow-italic.fntdata"/><Relationship Id="rId10" Type="http://schemas.openxmlformats.org/officeDocument/2006/relationships/slide" Target="slides/slide4.xml"/><Relationship Id="rId54" Type="http://schemas.openxmlformats.org/officeDocument/2006/relationships/font" Target="fonts/Barlow-bold.fntdata"/><Relationship Id="rId13" Type="http://schemas.openxmlformats.org/officeDocument/2006/relationships/slide" Target="slides/slide7.xml"/><Relationship Id="rId57" Type="http://customschemas.google.com/relationships/presentationmetadata" Target="metadata"/><Relationship Id="rId12" Type="http://schemas.openxmlformats.org/officeDocument/2006/relationships/slide" Target="slides/slide6.xml"/><Relationship Id="rId56" Type="http://schemas.openxmlformats.org/officeDocument/2006/relationships/font" Target="fonts/Barlow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e1bb36a27e_3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2e1bb36a27e_3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10cceee5bb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10cceee5bb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10cceee5bb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10cceee5bb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3acdd3b14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3acdd3b14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3acdd3b14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g33acdd3b14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3acdd3b14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g33acdd3b14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3acdd3b14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g33acdd3b14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3acdd3b14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g33acdd3b14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3acdd3b14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g33acdd3b14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3acdd3b14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g33acdd3b14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3acdd3b14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3acdd3b14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g"/><Relationship Id="rId3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g"/><Relationship Id="rId3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Relationship Id="rId3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jpg"/><Relationship Id="rId3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jpg"/><Relationship Id="rId3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Relationship Id="rId3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jpg"/><Relationship Id="rId3" Type="http://schemas.openxmlformats.org/officeDocument/2006/relationships/image" Target="../media/image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Relationship Id="rId3" Type="http://schemas.openxmlformats.org/officeDocument/2006/relationships/image" Target="../media/image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ERTINA DOCUMENTO">
  <p:cSld name="CUSTOM_2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3325" y="381000"/>
            <a:ext cx="16573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9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9"/>
          <p:cNvSpPr txBox="1"/>
          <p:nvPr>
            <p:ph type="title"/>
          </p:nvPr>
        </p:nvSpPr>
        <p:spPr>
          <a:xfrm>
            <a:off x="1767600" y="2530075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1767600" y="3429225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2" name="Google Shape;12;p19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3">
  <p:cSld name="CUSTOM_4_1"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4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4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7" name="Google Shape;17;p24"/>
          <p:cNvSpPr txBox="1"/>
          <p:nvPr>
            <p:ph idx="2"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" type="body"/>
          </p:nvPr>
        </p:nvSpPr>
        <p:spPr>
          <a:xfrm>
            <a:off x="228675" y="1198575"/>
            <a:ext cx="4207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9" name="Google Shape;19;p24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5">
  <p:cSld name="CUSTOM_4_1_1_1_1_2_1_1_1_1_1_1_1_1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5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3" name="Google Shape;23;p25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5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" type="title">
  <p:cSld name="TITLE"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3188850"/>
            <a:ext cx="1147601" cy="2567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6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" name="Google Shape;31;p26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9 2">
  <p:cSld name="CUSTOM_4_2_1_2"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g2e1bb36a27e_3_8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g2e1bb36a27e_3_885"/>
          <p:cNvSpPr txBox="1"/>
          <p:nvPr>
            <p:ph type="title"/>
          </p:nvPr>
        </p:nvSpPr>
        <p:spPr>
          <a:xfrm>
            <a:off x="126650" y="519484"/>
            <a:ext cx="27993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36" name="Google Shape;36;g2e1bb36a27e_3_885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2e1bb36a27e_3_885"/>
          <p:cNvSpPr txBox="1"/>
          <p:nvPr>
            <p:ph idx="2"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" name="Google Shape;38;g2e1bb36a27e_3_885"/>
          <p:cNvSpPr txBox="1"/>
          <p:nvPr>
            <p:ph idx="1" type="body"/>
          </p:nvPr>
        </p:nvSpPr>
        <p:spPr>
          <a:xfrm>
            <a:off x="3148584" y="519432"/>
            <a:ext cx="4343400" cy="30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9" name="Google Shape;39;g2e1bb36a27e_3_885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2023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975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2 3">
  <p:cSld name="CUSTOM_4_3_2_1_4"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g310cd819380_0_3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g310cd819380_0_379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3" name="Google Shape;43;g310cd819380_0_379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310cd819380_0_379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 cover">
  <p:cSld name="CUSTOM_5"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0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0"/>
          <p:cNvSpPr txBox="1"/>
          <p:nvPr/>
        </p:nvSpPr>
        <p:spPr>
          <a:xfrm>
            <a:off x="1844700" y="2571750"/>
            <a:ext cx="28044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30"/>
          <p:cNvSpPr txBox="1"/>
          <p:nvPr/>
        </p:nvSpPr>
        <p:spPr>
          <a:xfrm>
            <a:off x="1844700" y="3320075"/>
            <a:ext cx="28044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50" name="Google Shape;50;p30"/>
          <p:cNvPicPr preferRelativeResize="0"/>
          <p:nvPr/>
        </p:nvPicPr>
        <p:blipFill rotWithShape="1">
          <a:blip r:embed="rId3">
            <a:alphaModFix/>
          </a:blip>
          <a:srcRect b="66" l="0" r="0" t="69"/>
          <a:stretch/>
        </p:blipFill>
        <p:spPr>
          <a:xfrm>
            <a:off x="-1129287" y="-1138884"/>
            <a:ext cx="3079773" cy="328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0341" y="2466125"/>
            <a:ext cx="23408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2 2">
  <p:cSld name="CUSTOM_4_3_2_1_3"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g310bee107e9_0_1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10bee107e9_0_170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55" name="Google Shape;55;g310bee107e9_0_170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10bee107e9_0_170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2 1">
  <p:cSld name="CUSTOM_4_3_2_1_2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g3109b118001_0_3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g3109b118001_0_377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60" name="Google Shape;60;g3109b118001_0_377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109b118001_0_377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ice 1">
  <p:cSld name="CUSTOM_1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0"/>
          <p:cNvSpPr txBox="1"/>
          <p:nvPr/>
        </p:nvSpPr>
        <p:spPr>
          <a:xfrm>
            <a:off x="228600" y="2452200"/>
            <a:ext cx="4343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D1D1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INDEX</a:t>
            </a:r>
            <a:endParaRPr b="0" i="0" sz="1800" u="none" cap="none" strike="noStrike">
              <a:solidFill>
                <a:srgbClr val="1D1D1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" name="Google Shape;65;p20"/>
          <p:cNvSpPr txBox="1"/>
          <p:nvPr>
            <p:ph idx="1" type="body"/>
          </p:nvPr>
        </p:nvSpPr>
        <p:spPr>
          <a:xfrm>
            <a:off x="4513000" y="877950"/>
            <a:ext cx="4343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66" name="Google Shape;66;p20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0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8">
  <p:cSld name="CUSTOM_4_1_1_1_1_2_1_1_1_1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1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72" name="Google Shape;72;p21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1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9">
  <p:cSld name="CUSTOM_4_2_1"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2"/>
          <p:cNvSpPr txBox="1"/>
          <p:nvPr>
            <p:ph type="title"/>
          </p:nvPr>
        </p:nvSpPr>
        <p:spPr>
          <a:xfrm>
            <a:off x="126650" y="519484"/>
            <a:ext cx="27993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78" name="Google Shape;78;p22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2"/>
          <p:cNvSpPr txBox="1"/>
          <p:nvPr>
            <p:ph idx="2"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>
            <a:off x="3148584" y="519432"/>
            <a:ext cx="4343400" cy="30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81" name="Google Shape;81;p22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975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3 1">
  <p:cSld name="CUSTOM_4_1_2"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3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3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86" name="Google Shape;86;p23"/>
          <p:cNvSpPr txBox="1"/>
          <p:nvPr>
            <p:ph idx="2"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7" name="Google Shape;87;p23"/>
          <p:cNvSpPr txBox="1"/>
          <p:nvPr>
            <p:ph idx="1" type="body"/>
          </p:nvPr>
        </p:nvSpPr>
        <p:spPr>
          <a:xfrm>
            <a:off x="228675" y="1198575"/>
            <a:ext cx="4207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88" name="Google Shape;88;p23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9 1">
  <p:cSld name="CUSTOM_4_2_1_1"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2e1bb36a27e_3_3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2e1bb36a27e_3_300"/>
          <p:cNvSpPr txBox="1"/>
          <p:nvPr>
            <p:ph type="title"/>
          </p:nvPr>
        </p:nvSpPr>
        <p:spPr>
          <a:xfrm>
            <a:off x="126650" y="519484"/>
            <a:ext cx="27993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92" name="Google Shape;92;g2e1bb36a27e_3_300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2e1bb36a27e_3_300"/>
          <p:cNvSpPr txBox="1"/>
          <p:nvPr>
            <p:ph idx="2"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94" name="Google Shape;94;g2e1bb36a27e_3_300"/>
          <p:cNvSpPr txBox="1"/>
          <p:nvPr>
            <p:ph idx="1" type="body"/>
          </p:nvPr>
        </p:nvSpPr>
        <p:spPr>
          <a:xfrm>
            <a:off x="3148584" y="519432"/>
            <a:ext cx="4343400" cy="30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95" name="Google Shape;95;g2e1bb36a27e_3_300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2023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975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2"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1149" y="3218995"/>
            <a:ext cx="1073500" cy="2930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1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00" name="Google Shape;100;p31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01" name="Google Shape;101;p31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3">
  <p:cSld name="TITLE_2_1"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3197482"/>
            <a:ext cx="1073500" cy="2643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2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07" name="Google Shape;107;p32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08" name="Google Shape;108;p32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 dark">
  <p:cSld name="TITLE_1"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3"/>
          <p:cNvSpPr/>
          <p:nvPr/>
        </p:nvSpPr>
        <p:spPr>
          <a:xfrm rot="-5400000">
            <a:off x="1979850" y="-2036600"/>
            <a:ext cx="5184300" cy="91995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33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457200" y="3188850"/>
            <a:ext cx="1147601" cy="256764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3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3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6" name="Google Shape;116;p33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 dark">
  <p:cSld name="TITLE_1_1"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4"/>
          <p:cNvSpPr/>
          <p:nvPr/>
        </p:nvSpPr>
        <p:spPr>
          <a:xfrm rot="-5400000">
            <a:off x="1979850" y="-2036600"/>
            <a:ext cx="5184300" cy="91995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34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481149" y="3218995"/>
            <a:ext cx="1073500" cy="293047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4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4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3" name="Google Shape;123;p34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3 dark">
  <p:cSld name="TITLE_1_1_1"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5"/>
          <p:cNvSpPr/>
          <p:nvPr/>
        </p:nvSpPr>
        <p:spPr>
          <a:xfrm rot="-5400000">
            <a:off x="1979850" y="-2036600"/>
            <a:ext cx="5184300" cy="91995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35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457200" y="3197482"/>
            <a:ext cx="1073500" cy="264329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5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5"/>
          <p:cNvSpPr txBox="1"/>
          <p:nvPr>
            <p:ph type="title"/>
          </p:nvPr>
        </p:nvSpPr>
        <p:spPr>
          <a:xfrm>
            <a:off x="457200" y="1055500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0" name="Google Shape;130;p35"/>
          <p:cNvSpPr txBox="1"/>
          <p:nvPr>
            <p:ph idx="1" type="subTitle"/>
          </p:nvPr>
        </p:nvSpPr>
        <p:spPr>
          <a:xfrm>
            <a:off x="457200" y="1954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ice 1 dark">
  <p:cSld name="CUSTOM_1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6"/>
          <p:cNvSpPr/>
          <p:nvPr/>
        </p:nvSpPr>
        <p:spPr>
          <a:xfrm rot="-5400000">
            <a:off x="1970800" y="-2023850"/>
            <a:ext cx="5201400" cy="91602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D1D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6"/>
          <p:cNvSpPr txBox="1"/>
          <p:nvPr/>
        </p:nvSpPr>
        <p:spPr>
          <a:xfrm>
            <a:off x="228600" y="2452200"/>
            <a:ext cx="4343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index</a:t>
            </a:r>
            <a:endParaRPr b="0" i="0" sz="18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4" name="Google Shape;134;p36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6"/>
          <p:cNvSpPr txBox="1"/>
          <p:nvPr>
            <p:ph idx="1" type="body"/>
          </p:nvPr>
        </p:nvSpPr>
        <p:spPr>
          <a:xfrm>
            <a:off x="4513000" y="877950"/>
            <a:ext cx="4343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37" name="Google Shape;137;p36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e capitolo">
  <p:cSld name="CUSTOM_2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7"/>
          <p:cNvSpPr/>
          <p:nvPr/>
        </p:nvSpPr>
        <p:spPr>
          <a:xfrm rot="-5400000">
            <a:off x="1993000" y="-2001650"/>
            <a:ext cx="5157000" cy="9160200"/>
          </a:xfrm>
          <a:prstGeom prst="rect">
            <a:avLst/>
          </a:prstGeom>
          <a:solidFill>
            <a:srgbClr val="FFFFFF"/>
          </a:solidFill>
          <a:ln cap="flat" cmpd="sng" w="228600">
            <a:solidFill>
              <a:srgbClr val="FFED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7"/>
          <p:cNvSpPr txBox="1"/>
          <p:nvPr>
            <p:ph type="title"/>
          </p:nvPr>
        </p:nvSpPr>
        <p:spPr>
          <a:xfrm>
            <a:off x="367925" y="2118150"/>
            <a:ext cx="48375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41" name="Google Shape;14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95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7"/>
          <p:cNvSpPr txBox="1"/>
          <p:nvPr>
            <p:ph idx="1" type="subTitle"/>
          </p:nvPr>
        </p:nvSpPr>
        <p:spPr>
          <a:xfrm>
            <a:off x="367925" y="3098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e capitolo dark">
  <p:cSld name="CUSTOM_2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8"/>
          <p:cNvSpPr/>
          <p:nvPr/>
        </p:nvSpPr>
        <p:spPr>
          <a:xfrm rot="-5400000">
            <a:off x="1993000" y="-2001650"/>
            <a:ext cx="5157000" cy="9160200"/>
          </a:xfrm>
          <a:prstGeom prst="rect">
            <a:avLst/>
          </a:prstGeom>
          <a:solidFill>
            <a:srgbClr val="1D1D1B"/>
          </a:solidFill>
          <a:ln cap="flat" cmpd="sng" w="228600">
            <a:solidFill>
              <a:srgbClr val="FFED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95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8"/>
          <p:cNvSpPr txBox="1"/>
          <p:nvPr>
            <p:ph idx="1" type="subTitle"/>
          </p:nvPr>
        </p:nvSpPr>
        <p:spPr>
          <a:xfrm>
            <a:off x="367925" y="3098650"/>
            <a:ext cx="560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ED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47" name="Google Shape;147;p38"/>
          <p:cNvSpPr txBox="1"/>
          <p:nvPr>
            <p:ph type="title"/>
          </p:nvPr>
        </p:nvSpPr>
        <p:spPr>
          <a:xfrm>
            <a:off x="367925" y="2118150"/>
            <a:ext cx="48375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">
  <p:cSld name="CUSTOM_2_1_1_1"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9"/>
          <p:cNvSpPr/>
          <p:nvPr/>
        </p:nvSpPr>
        <p:spPr>
          <a:xfrm>
            <a:off x="6564750" y="-100"/>
            <a:ext cx="2579700" cy="51435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39"/>
          <p:cNvCxnSpPr/>
          <p:nvPr/>
        </p:nvCxnSpPr>
        <p:spPr>
          <a:xfrm>
            <a:off x="232900" y="1263974"/>
            <a:ext cx="3957600" cy="0"/>
          </a:xfrm>
          <a:prstGeom prst="straightConnector1">
            <a:avLst/>
          </a:prstGeom>
          <a:noFill/>
          <a:ln cap="rnd" cmpd="sng" w="38100">
            <a:solidFill>
              <a:srgbClr val="FFED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39"/>
          <p:cNvSpPr/>
          <p:nvPr/>
        </p:nvSpPr>
        <p:spPr>
          <a:xfrm>
            <a:off x="4572012" y="572600"/>
            <a:ext cx="3985500" cy="39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5725" rotWithShape="0" algn="bl">
              <a:srgbClr val="000000">
                <a:alpha val="1058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52" name="Google Shape;152;p39"/>
          <p:cNvSpPr txBox="1"/>
          <p:nvPr>
            <p:ph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3" name="Google Shape;153;p39"/>
          <p:cNvSpPr txBox="1"/>
          <p:nvPr>
            <p:ph idx="1" type="body"/>
          </p:nvPr>
        </p:nvSpPr>
        <p:spPr>
          <a:xfrm>
            <a:off x="228675" y="1444301"/>
            <a:ext cx="4105200" cy="30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54" name="Google Shape;154;p39"/>
          <p:cNvSpPr txBox="1"/>
          <p:nvPr>
            <p:ph idx="2"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2">
  <p:cSld name="CUSTOM_4"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0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0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59" name="Google Shape;159;p40"/>
          <p:cNvSpPr txBox="1"/>
          <p:nvPr>
            <p:ph idx="2" type="title"/>
          </p:nvPr>
        </p:nvSpPr>
        <p:spPr>
          <a:xfrm>
            <a:off x="126650" y="519475"/>
            <a:ext cx="8788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0" name="Google Shape;160;p40"/>
          <p:cNvSpPr txBox="1"/>
          <p:nvPr>
            <p:ph idx="1" type="body"/>
          </p:nvPr>
        </p:nvSpPr>
        <p:spPr>
          <a:xfrm>
            <a:off x="228675" y="1198575"/>
            <a:ext cx="4207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61" name="Google Shape;161;p40"/>
          <p:cNvSpPr txBox="1"/>
          <p:nvPr>
            <p:ph idx="3" type="body"/>
          </p:nvPr>
        </p:nvSpPr>
        <p:spPr>
          <a:xfrm>
            <a:off x="4708200" y="1198575"/>
            <a:ext cx="4207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62" name="Google Shape;162;p40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4">
  <p:cSld name="CUSTOM_4_1_1"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1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1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67" name="Google Shape;167;p41"/>
          <p:cNvSpPr txBox="1"/>
          <p:nvPr>
            <p:ph idx="2" type="title"/>
          </p:nvPr>
        </p:nvSpPr>
        <p:spPr>
          <a:xfrm>
            <a:off x="126650" y="519475"/>
            <a:ext cx="30738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8" name="Google Shape;168;p41"/>
          <p:cNvSpPr txBox="1"/>
          <p:nvPr>
            <p:ph idx="1" type="body"/>
          </p:nvPr>
        </p:nvSpPr>
        <p:spPr>
          <a:xfrm>
            <a:off x="228675" y="1198575"/>
            <a:ext cx="2841900" cy="3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69" name="Google Shape;169;p41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016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5">
  <p:cSld name="CUSTOM_4_2"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2"/>
          <p:cNvSpPr txBox="1"/>
          <p:nvPr>
            <p:ph idx="1" type="body"/>
          </p:nvPr>
        </p:nvSpPr>
        <p:spPr>
          <a:xfrm>
            <a:off x="6116075" y="2500675"/>
            <a:ext cx="2799300" cy="22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pic>
        <p:nvPicPr>
          <p:cNvPr id="172" name="Google Shape;17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42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2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75" name="Google Shape;175;p42"/>
          <p:cNvSpPr txBox="1"/>
          <p:nvPr>
            <p:ph idx="2" type="body"/>
          </p:nvPr>
        </p:nvSpPr>
        <p:spPr>
          <a:xfrm>
            <a:off x="3150875" y="2500650"/>
            <a:ext cx="2783700" cy="22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76" name="Google Shape;176;p42"/>
          <p:cNvSpPr txBox="1"/>
          <p:nvPr>
            <p:ph idx="3" type="title"/>
          </p:nvPr>
        </p:nvSpPr>
        <p:spPr>
          <a:xfrm>
            <a:off x="126650" y="2500650"/>
            <a:ext cx="28428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7" name="Google Shape;177;p42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975">
          <p15:clr>
            <a:srgbClr val="FA7B17"/>
          </p15:clr>
        </p15:guide>
        <p15:guide id="2" pos="3738">
          <p15:clr>
            <a:srgbClr val="FA7B17"/>
          </p15:clr>
        </p15:guide>
        <p15:guide id="3" pos="3853">
          <p15:clr>
            <a:srgbClr val="FA7B17"/>
          </p15:clr>
        </p15:guide>
        <p15:guide id="4" pos="5616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6">
  <p:cSld name="CUSTOM_4_3"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43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3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82" name="Google Shape;182;p43"/>
          <p:cNvSpPr txBox="1"/>
          <p:nvPr>
            <p:ph idx="2" type="title"/>
          </p:nvPr>
        </p:nvSpPr>
        <p:spPr>
          <a:xfrm>
            <a:off x="126650" y="534725"/>
            <a:ext cx="28677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3" name="Google Shape;183;p43"/>
          <p:cNvSpPr txBox="1"/>
          <p:nvPr>
            <p:ph idx="1" type="body"/>
          </p:nvPr>
        </p:nvSpPr>
        <p:spPr>
          <a:xfrm>
            <a:off x="3200450" y="534725"/>
            <a:ext cx="5715000" cy="3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84" name="Google Shape;184;p43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975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7">
  <p:cSld name="CUSTOM_4_3_1"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4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4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89" name="Google Shape;189;p44"/>
          <p:cNvSpPr txBox="1"/>
          <p:nvPr>
            <p:ph idx="1" type="body"/>
          </p:nvPr>
        </p:nvSpPr>
        <p:spPr>
          <a:xfrm>
            <a:off x="4572000" y="1482600"/>
            <a:ext cx="4343400" cy="30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90" name="Google Shape;190;p44"/>
          <p:cNvSpPr txBox="1"/>
          <p:nvPr>
            <p:ph idx="2" type="title"/>
          </p:nvPr>
        </p:nvSpPr>
        <p:spPr>
          <a:xfrm>
            <a:off x="126650" y="2220259"/>
            <a:ext cx="30738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91" name="Google Shape;191;p44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8">
  <p:cSld name="CUSTOM_4_3_1_1"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45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0">
  <p:cSld name="CUSTOM_4_2_1_1_1"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Google Shape;196;p46"/>
          <p:cNvCxnSpPr/>
          <p:nvPr/>
        </p:nvCxnSpPr>
        <p:spPr>
          <a:xfrm>
            <a:off x="247975" y="2568075"/>
            <a:ext cx="867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97" name="Google Shape;197;p46"/>
          <p:cNvCxnSpPr/>
          <p:nvPr/>
        </p:nvCxnSpPr>
        <p:spPr>
          <a:xfrm rot="5400000">
            <a:off x="2390100" y="2568075"/>
            <a:ext cx="4363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98" name="Google Shape;198;p46"/>
          <p:cNvSpPr txBox="1"/>
          <p:nvPr>
            <p:ph type="title"/>
          </p:nvPr>
        </p:nvSpPr>
        <p:spPr>
          <a:xfrm>
            <a:off x="126650" y="519475"/>
            <a:ext cx="42930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9" name="Google Shape;199;p46"/>
          <p:cNvSpPr txBox="1"/>
          <p:nvPr>
            <p:ph idx="2"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00" name="Google Shape;200;p46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6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1">
  <p:cSld name="CUSTOM_4_3_2"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47"/>
          <p:cNvSpPr txBox="1"/>
          <p:nvPr>
            <p:ph type="title"/>
          </p:nvPr>
        </p:nvSpPr>
        <p:spPr>
          <a:xfrm>
            <a:off x="126650" y="519475"/>
            <a:ext cx="27993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5" name="Google Shape;205;p47"/>
          <p:cNvSpPr txBox="1"/>
          <p:nvPr>
            <p:ph idx="1" type="body"/>
          </p:nvPr>
        </p:nvSpPr>
        <p:spPr>
          <a:xfrm>
            <a:off x="3135425" y="519475"/>
            <a:ext cx="57801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06" name="Google Shape;206;p47"/>
          <p:cNvSpPr txBox="1"/>
          <p:nvPr>
            <p:ph idx="2"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07" name="Google Shape;207;p47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7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2">
  <p:cSld name="CUSTOM_4_3_2_1"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8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12" name="Google Shape;212;p48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8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3">
  <p:cSld name="CUSTOM_4_3_2_1_1"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9"/>
          <p:cNvSpPr txBox="1"/>
          <p:nvPr>
            <p:ph idx="1" type="body"/>
          </p:nvPr>
        </p:nvSpPr>
        <p:spPr>
          <a:xfrm>
            <a:off x="381000" y="1226225"/>
            <a:ext cx="2874600" cy="30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 Light"/>
              <a:buChar char="●"/>
              <a:defRPr b="0" i="0" sz="12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 Light"/>
              <a:buChar char="○"/>
              <a:defRPr b="0" i="0" sz="12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 Light"/>
              <a:buChar char="■"/>
              <a:defRPr b="0" i="0" sz="12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 Light"/>
              <a:buChar char="●"/>
              <a:defRPr b="0" i="0" sz="12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 Light"/>
              <a:buChar char="○"/>
              <a:defRPr b="0" i="0" sz="12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 Light"/>
              <a:buChar char="●"/>
              <a:defRPr b="0" i="0" sz="12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 Light"/>
              <a:buChar char="○"/>
              <a:defRPr b="0" i="0" sz="10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 Light"/>
              <a:buChar char="■"/>
              <a:defRPr b="0" i="0" sz="12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217" name="Google Shape;217;p49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18" name="Google Shape;218;p49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4">
  <p:cSld name="CUSTOM_4_1_1_1"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0"/>
          <p:cNvSpPr txBox="1"/>
          <p:nvPr>
            <p:ph idx="1" type="body"/>
          </p:nvPr>
        </p:nvSpPr>
        <p:spPr>
          <a:xfrm>
            <a:off x="1181550" y="1640975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23" name="Google Shape;223;p50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50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4">
  <p:cSld name="CUSTOM_4_1_1_1_2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1"/>
          <p:cNvSpPr/>
          <p:nvPr/>
        </p:nvSpPr>
        <p:spPr>
          <a:xfrm rot="-5400000">
            <a:off x="1987000" y="-2007650"/>
            <a:ext cx="5169000" cy="9160200"/>
          </a:xfrm>
          <a:prstGeom prst="rect">
            <a:avLst/>
          </a:prstGeom>
          <a:gradFill>
            <a:gsLst>
              <a:gs pos="0">
                <a:srgbClr val="363632"/>
              </a:gs>
              <a:gs pos="100000">
                <a:srgbClr val="1D1D1B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51"/>
          <p:cNvSpPr txBox="1"/>
          <p:nvPr>
            <p:ph idx="1" type="body"/>
          </p:nvPr>
        </p:nvSpPr>
        <p:spPr>
          <a:xfrm>
            <a:off x="1181550" y="1640975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29" name="Google Shape;229;p51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1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">
  <p:cSld name="CUSTOM_4_1_1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52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35" name="Google Shape;235;p52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52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2">
  <p:cSld name="CUSTOM_4_1_1_1_1_2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53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41" name="Google Shape;241;p53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53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3">
  <p:cSld name="CUSTOM_4_1_1_1_1_2_1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54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47" name="Google Shape;247;p54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54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4">
  <p:cSld name="CUSTOM_4_1_1_1_1_2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5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53" name="Google Shape;253;p55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5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5">
  <p:cSld name="CUSTOM_4_1_1_1_1_2_1_1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56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59" name="Google Shape;259;p56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6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6">
  <p:cSld name="CUSTOM_4_1_1_1_1_2_1_1_1_1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7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65" name="Google Shape;265;p57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57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7">
  <p:cSld name="CUSTOM_4_1_1_1_1_2_1_1_1_1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58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71" name="Google Shape;271;p58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8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9">
  <p:cSld name="CUSTOM_4_1_1_1_1_2_1_1_1_1_1_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59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77" name="Google Shape;277;p59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59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0">
  <p:cSld name="CUSTOM_4_1_1_1_1_2_1_1_1_1_1_1_1_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60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83" name="Google Shape;283;p60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60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1">
  <p:cSld name="CUSTOM_4_1_1_1_1_2_1_1_1_1_1_1_1_1_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61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89" name="Google Shape;289;p61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61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2">
  <p:cSld name="CUSTOM_4_1_1_1_1_2_1_1_1_1_1_1_1_1_1_1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62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295" name="Google Shape;295;p62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62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3">
  <p:cSld name="CUSTOM_4_1_1_1_1_2_1_1_1_1_1_1_1_1_1_1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63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301" name="Google Shape;301;p63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63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Foto 14">
  <p:cSld name="CUSTOM_4_1_1_1_1_2_1_1_1_1_1_1_1_1_1_1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64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048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3048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indent="-3048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indent="-3048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indent="-3048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indent="-3048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indent="-3048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●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indent="-3048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○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indent="-3048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ExtraLight"/>
              <a:buChar char="■"/>
              <a:defRPr b="0" i="0" sz="1200" u="none" cap="none" strike="noStrike">
                <a:solidFill>
                  <a:srgbClr val="FFFFFF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/>
        </p:txBody>
      </p:sp>
      <p:sp>
        <p:nvSpPr>
          <p:cNvPr id="307" name="Google Shape;307;p64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1950" y="4310901"/>
            <a:ext cx="509650" cy="5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4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b="0" i="0" sz="6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 cover dark">
  <p:cSld name="CUSTOM_5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5"/>
          <p:cNvSpPr/>
          <p:nvPr/>
        </p:nvSpPr>
        <p:spPr>
          <a:xfrm rot="-5400000">
            <a:off x="1987000" y="-2007650"/>
            <a:ext cx="5169000" cy="9160200"/>
          </a:xfrm>
          <a:prstGeom prst="rect">
            <a:avLst/>
          </a:prstGeom>
          <a:gradFill>
            <a:gsLst>
              <a:gs pos="0">
                <a:srgbClr val="363632"/>
              </a:gs>
              <a:gs pos="100000">
                <a:srgbClr val="1D1D1B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65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65"/>
          <p:cNvPicPr preferRelativeResize="0"/>
          <p:nvPr/>
        </p:nvPicPr>
        <p:blipFill rotWithShape="1">
          <a:blip r:embed="rId2">
            <a:alphaModFix/>
          </a:blip>
          <a:srcRect b="66" l="0" r="0" t="69"/>
          <a:stretch/>
        </p:blipFill>
        <p:spPr>
          <a:xfrm>
            <a:off x="-1129287" y="-1138884"/>
            <a:ext cx="3079773" cy="328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335" y="2466113"/>
            <a:ext cx="229883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3 2">
  <p:cSld name="CUSTOM_4_1_3"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g2e1bb36a27e_3_5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2e1bb36a27e_3_588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2e1bb36a27e_3_588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b="0"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9" name="Google Shape;319;g2e1bb36a27e_3_588"/>
          <p:cNvSpPr txBox="1"/>
          <p:nvPr>
            <p:ph idx="2"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20" name="Google Shape;320;g2e1bb36a27e_3_588"/>
          <p:cNvSpPr txBox="1"/>
          <p:nvPr>
            <p:ph idx="1" type="body"/>
          </p:nvPr>
        </p:nvSpPr>
        <p:spPr>
          <a:xfrm>
            <a:off x="228675" y="1198575"/>
            <a:ext cx="42072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●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○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Light"/>
              <a:buChar char="■"/>
              <a:defRPr b="0" i="0" sz="11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21" name="Google Shape;321;g2e1bb36a27e_3_588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© 2023 • Aulab S.r.l.</a:t>
            </a:r>
            <a:endParaRPr b="0" i="0" sz="6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nterna 12 4">
  <p:cSld name="CUSTOM_4_3_2_1_5"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g310cceee5bb_1_3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10cceee5bb_1_384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Montserrat Light"/>
              <a:buNone/>
              <a:defRPr i="0" sz="900" u="none" cap="none" strike="noStrike"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25" name="Google Shape;325;g310cceee5bb_1_384"/>
          <p:cNvSpPr/>
          <p:nvPr/>
        </p:nvSpPr>
        <p:spPr>
          <a:xfrm>
            <a:off x="150" y="5047200"/>
            <a:ext cx="9144000" cy="963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10cceee5bb_1_384"/>
          <p:cNvSpPr txBox="1"/>
          <p:nvPr/>
        </p:nvSpPr>
        <p:spPr>
          <a:xfrm>
            <a:off x="150" y="4802332"/>
            <a:ext cx="388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Montserrat Light"/>
                <a:ea typeface="Montserrat Light"/>
                <a:cs typeface="Montserrat Light"/>
                <a:sym typeface="Montserrat Light"/>
              </a:rPr>
              <a:t>© 2020 • Aulab S.r.l.</a:t>
            </a:r>
            <a:endParaRPr sz="6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3F3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144">
          <p15:clr>
            <a:srgbClr val="EA4335"/>
          </p15:clr>
        </p15:guide>
        <p15:guide id="4" pos="5616">
          <p15:clr>
            <a:srgbClr val="EA4335"/>
          </p15:clr>
        </p15:guide>
        <p15:guide id="5" orient="horz" pos="240">
          <p15:clr>
            <a:srgbClr val="EA4335"/>
          </p15:clr>
        </p15:guide>
        <p15:guide id="6" orient="horz" pos="299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0.png"/><Relationship Id="rId4" Type="http://schemas.openxmlformats.org/officeDocument/2006/relationships/image" Target="../media/image34.png"/><Relationship Id="rId5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"/>
          <p:cNvSpPr txBox="1"/>
          <p:nvPr>
            <p:ph type="title"/>
          </p:nvPr>
        </p:nvSpPr>
        <p:spPr>
          <a:xfrm>
            <a:off x="1767600" y="2530075"/>
            <a:ext cx="56091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0" sz="1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en" sz="2500"/>
              <a:t>Welcome to</a:t>
            </a:r>
            <a:endParaRPr b="1" sz="2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 sz="2500">
                <a:solidFill>
                  <a:schemeClr val="dk1"/>
                </a:solidFill>
              </a:rPr>
              <a:t>Coding AI</a:t>
            </a:r>
            <a:endParaRPr b="1" sz="3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"/>
          <p:cNvSpPr txBox="1"/>
          <p:nvPr/>
        </p:nvSpPr>
        <p:spPr>
          <a:xfrm>
            <a:off x="228600" y="347375"/>
            <a:ext cx="15738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 REFERENTI</a:t>
            </a:r>
            <a:endParaRPr b="1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6"/>
          <p:cNvSpPr txBox="1"/>
          <p:nvPr/>
        </p:nvSpPr>
        <p:spPr>
          <a:xfrm>
            <a:off x="2337581" y="3221191"/>
            <a:ext cx="1560600" cy="7326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Sono il riferimento per qualunque questione tecnica inerente alla specializzazione Coding AI</a:t>
            </a:r>
            <a:endParaRPr b="0" i="1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6"/>
          <p:cNvSpPr txBox="1"/>
          <p:nvPr/>
        </p:nvSpPr>
        <p:spPr>
          <a:xfrm>
            <a:off x="2192188" y="2644400"/>
            <a:ext cx="1750500" cy="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Nicola Milella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800">
                <a:latin typeface="Montserrat Light"/>
                <a:ea typeface="Montserrat Light"/>
                <a:cs typeface="Montserrat Light"/>
                <a:sym typeface="Montserrat Light"/>
              </a:rPr>
              <a:t>Formatore Docenti</a:t>
            </a:r>
            <a:endParaRPr i="1" sz="800"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800">
                <a:latin typeface="Montserrat Light"/>
                <a:ea typeface="Montserrat Light"/>
                <a:cs typeface="Montserrat Light"/>
                <a:sym typeface="Montserrat Light"/>
              </a:rPr>
              <a:t>Docente CodingAI &amp; CyberSec</a:t>
            </a:r>
            <a:endParaRPr i="1" sz="800"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1" sz="8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339" name="Google Shape;3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504" y="1344939"/>
            <a:ext cx="1305789" cy="1305789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6"/>
          <p:cNvSpPr txBox="1"/>
          <p:nvPr/>
        </p:nvSpPr>
        <p:spPr>
          <a:xfrm>
            <a:off x="4907025" y="3175800"/>
            <a:ext cx="2867400" cy="4311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Siamo il riferimento per la pianificazione delle specializzazioni e la gestione delle piattaforme</a:t>
            </a:r>
            <a:endParaRPr b="0" i="1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6"/>
          <p:cNvSpPr txBox="1"/>
          <p:nvPr/>
        </p:nvSpPr>
        <p:spPr>
          <a:xfrm>
            <a:off x="4572005" y="2693155"/>
            <a:ext cx="17802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Federica D’Amato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" sz="8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Training Assistant</a:t>
            </a:r>
            <a:endParaRPr b="0" i="1" sz="8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1" sz="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2" name="Google Shape;342;p6"/>
          <p:cNvSpPr txBox="1"/>
          <p:nvPr/>
        </p:nvSpPr>
        <p:spPr>
          <a:xfrm>
            <a:off x="6352191" y="2693152"/>
            <a:ext cx="15438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Anna Di Pierro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" sz="8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Training Assistant</a:t>
            </a:r>
            <a:endParaRPr b="0" i="1" sz="8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1" sz="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43" name="Google Shape;34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061" y="1334901"/>
            <a:ext cx="1325880" cy="1325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6" title="nico_profilo_aulab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6500" y="1288525"/>
            <a:ext cx="1400250" cy="159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"/>
          <p:cNvSpPr txBox="1"/>
          <p:nvPr>
            <p:ph idx="1" type="body"/>
          </p:nvPr>
        </p:nvSpPr>
        <p:spPr>
          <a:xfrm>
            <a:off x="3697500" y="2205250"/>
            <a:ext cx="1749000" cy="9285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840000" dist="38100">
              <a:srgbClr val="000000">
                <a:alpha val="83529"/>
              </a:srgbClr>
            </a:outerShdw>
          </a:effectLst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buSzPts val="1200"/>
              <a:buNone/>
            </a:pPr>
            <a:r>
              <a:rPr b="1" lang="en" sz="2400">
                <a:latin typeface="Montserrat"/>
                <a:ea typeface="Montserrat"/>
                <a:cs typeface="Montserrat"/>
                <a:sym typeface="Montserrat"/>
              </a:rPr>
              <a:t>IL CORSO</a:t>
            </a:r>
            <a:endParaRPr b="1" sz="2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8"/>
          <p:cNvSpPr txBox="1"/>
          <p:nvPr>
            <p:ph type="title"/>
          </p:nvPr>
        </p:nvSpPr>
        <p:spPr>
          <a:xfrm>
            <a:off x="457200" y="598300"/>
            <a:ext cx="62232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" sz="1600"/>
              <a:t>SKILLS </a:t>
            </a:r>
            <a:endParaRPr b="1" sz="1600"/>
          </a:p>
        </p:txBody>
      </p:sp>
      <p:sp>
        <p:nvSpPr>
          <p:cNvPr id="355" name="Google Shape;355;p8"/>
          <p:cNvSpPr txBox="1"/>
          <p:nvPr>
            <p:ph idx="1" type="subTitle"/>
          </p:nvPr>
        </p:nvSpPr>
        <p:spPr>
          <a:xfrm>
            <a:off x="457200" y="1037975"/>
            <a:ext cx="68361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Dopo aver appreso la base dello sviluppo web, vedremo quanto è profonda la tana del Bianconiglio con la Specializzazione in </a:t>
            </a: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Coding AI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L’intelligenza artificiale sta rivoluzionando il nostro modo di vivere e comunicare.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Tantissime aziende stanno integrando nei progetti software queste tecnologie e la domanda di </a:t>
            </a: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sviluppatori con le competenze AI</a:t>
            </a:r>
            <a:r>
              <a:rPr lang="en" sz="1300">
                <a:solidFill>
                  <a:schemeClr val="dk1"/>
                </a:solidFill>
              </a:rPr>
              <a:t> sta aumentando sempre di più.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6" name="Google Shape;356;p8"/>
          <p:cNvSpPr txBox="1"/>
          <p:nvPr>
            <p:ph idx="1" type="subTitle"/>
          </p:nvPr>
        </p:nvSpPr>
        <p:spPr>
          <a:xfrm>
            <a:off x="3286646" y="3585003"/>
            <a:ext cx="5609100" cy="1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“Lo sviluppo web è un’arte complessa e raffinata...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Ecco perché mi piace paragonare lo sviluppatore software 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</a:rPr>
              <a:t>a un artigiano, un artigiano del software.</a:t>
            </a:r>
            <a:r>
              <a:rPr lang="en" sz="1200">
                <a:solidFill>
                  <a:schemeClr val="dk1"/>
                </a:solidFill>
              </a:rPr>
              <a:t>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Giancarlo Valente</a:t>
            </a:r>
            <a:r>
              <a:rPr lang="en" sz="900">
                <a:solidFill>
                  <a:schemeClr val="dk1"/>
                </a:solidFill>
              </a:rPr>
              <a:t> | </a:t>
            </a:r>
            <a:r>
              <a:rPr i="1" lang="en" sz="900">
                <a:solidFill>
                  <a:schemeClr val="dk1"/>
                </a:solidFill>
              </a:rPr>
              <a:t>CTO &amp; co-founder Aulab.</a:t>
            </a:r>
            <a:endParaRPr i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357" name="Google Shape;3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3200" y="3363775"/>
            <a:ext cx="1344425" cy="134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"/>
          <p:cNvSpPr/>
          <p:nvPr/>
        </p:nvSpPr>
        <p:spPr>
          <a:xfrm>
            <a:off x="4676775" y="569475"/>
            <a:ext cx="2049900" cy="20499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0"/>
          <p:cNvSpPr txBox="1"/>
          <p:nvPr>
            <p:ph idx="2"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dk1"/>
                </a:solidFill>
              </a:rPr>
              <a:t>METODOLOGIE</a:t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4624657" y="519475"/>
            <a:ext cx="2049900" cy="2049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Work with Buddy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Sperimenta la </a:t>
            </a: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peer-to-peer education</a:t>
            </a:r>
            <a:r>
              <a:rPr b="1" i="0" lang="en" sz="1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 lavora già dal primo giorno con un tuo compagno di corso</a:t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6853538" y="569475"/>
            <a:ext cx="2049900" cy="20499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6801419" y="519475"/>
            <a:ext cx="2049900" cy="2049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Live Coding</a:t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Scrivi codice</a:t>
            </a:r>
            <a:r>
              <a:rPr b="1" i="0" lang="en" sz="1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per impararne la sintassi e saper gestire l’errore</a:t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3500995" y="2771250"/>
            <a:ext cx="2049900" cy="2049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3571525" y="2804913"/>
            <a:ext cx="2049900" cy="20499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2447875" y="544476"/>
            <a:ext cx="2049900" cy="20499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2395757" y="494476"/>
            <a:ext cx="2049900" cy="2049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Collaboration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Crea la </a:t>
            </a: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documentazione condivisa 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  tuoi colleghi per avere sempre un recap degli argomenti</a:t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3519407" y="2754913"/>
            <a:ext cx="2049900" cy="2049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Feedback aperto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Impariamo a dare e ricevere feedback, proprio come in azienda</a:t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5748301" y="2796238"/>
            <a:ext cx="2049900" cy="20499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5696182" y="2746238"/>
            <a:ext cx="2049900" cy="2049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Progetto Finale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Tramite il progetto finale potrai mettere alla prova le tue abilità</a:t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4"/>
          <p:cNvSpPr/>
          <p:nvPr/>
        </p:nvSpPr>
        <p:spPr>
          <a:xfrm>
            <a:off x="4676775" y="569475"/>
            <a:ext cx="2049900" cy="20499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4"/>
          <p:cNvSpPr txBox="1"/>
          <p:nvPr>
            <p:ph idx="2" type="title"/>
          </p:nvPr>
        </p:nvSpPr>
        <p:spPr>
          <a:xfrm>
            <a:off x="126650" y="519475"/>
            <a:ext cx="4207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dk1"/>
                </a:solidFill>
              </a:rPr>
              <a:t>TOOLS</a:t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4624657" y="519475"/>
            <a:ext cx="2049900" cy="2049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Hackademy.it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La nostra piattaforma proprietaria dove troverai le registrazioni delle lezioni, materiali didattici e quiz di auto-valutazione</a:t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6853538" y="569475"/>
            <a:ext cx="2049900" cy="20499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6801419" y="519475"/>
            <a:ext cx="2049900" cy="2049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Dropbox paper</a:t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Per condividere con i tuoi colleghi tutto ciò che impari al corso</a:t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5701763" y="2822903"/>
            <a:ext cx="2049900" cy="20499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5649620" y="2790228"/>
            <a:ext cx="2049900" cy="2049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5649632" y="2765228"/>
            <a:ext cx="2049900" cy="2049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Git &amp; GitHub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Per il versionamento, la condivisione del codice e la creazione di un repository del codice</a:t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2484725" y="552138"/>
            <a:ext cx="2049900" cy="20499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2432607" y="502138"/>
            <a:ext cx="2049900" cy="2049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Zoom 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Per frequentare le lezioni live con il docente e i tuoi colleghi</a:t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3509688" y="2822891"/>
            <a:ext cx="2049900" cy="20499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3457570" y="2772891"/>
            <a:ext cx="2049900" cy="2049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Discord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Per una comunicazione efficace con i docenti e gli altri studenti del corso</a:t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e1bb36a27e_3_892"/>
          <p:cNvSpPr txBox="1"/>
          <p:nvPr>
            <p:ph idx="2" type="title"/>
          </p:nvPr>
        </p:nvSpPr>
        <p:spPr>
          <a:xfrm>
            <a:off x="346000" y="450555"/>
            <a:ext cx="27993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dk1"/>
                </a:solidFill>
              </a:rPr>
              <a:t>SETTIMANA TIPO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dk1"/>
                </a:solidFill>
              </a:rPr>
              <a:t>DI SPECIALIZZAZIONE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g2e1bb36a27e_3_892"/>
          <p:cNvSpPr/>
          <p:nvPr/>
        </p:nvSpPr>
        <p:spPr>
          <a:xfrm>
            <a:off x="1461500" y="1992695"/>
            <a:ext cx="1100100" cy="18066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18.30-19.00</a:t>
            </a:r>
            <a:r>
              <a:rPr b="0" i="0" lang="en" sz="8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0" i="0" lang="en" sz="9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Riepilogo</a:t>
            </a:r>
            <a:endParaRPr b="0" i="0" sz="9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19.00 - 21.30</a:t>
            </a:r>
            <a:r>
              <a:rPr b="0" i="0" lang="en" sz="8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endParaRPr b="0" i="0" sz="9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Lezione</a:t>
            </a:r>
            <a:endParaRPr b="0" i="0" sz="9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96" name="Google Shape;396;g2e1bb36a27e_3_892"/>
          <p:cNvSpPr txBox="1"/>
          <p:nvPr/>
        </p:nvSpPr>
        <p:spPr>
          <a:xfrm>
            <a:off x="1572212" y="1381509"/>
            <a:ext cx="899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rPr>
              <a:t>LUN</a:t>
            </a:r>
            <a:endParaRPr b="1" i="0" sz="900" u="none" cap="none" strike="noStrike">
              <a:solidFill>
                <a:srgbClr val="1D1D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g2e1bb36a27e_3_892"/>
          <p:cNvSpPr txBox="1"/>
          <p:nvPr/>
        </p:nvSpPr>
        <p:spPr>
          <a:xfrm>
            <a:off x="2850405" y="1381509"/>
            <a:ext cx="899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rPr>
              <a:t>MAR</a:t>
            </a:r>
            <a:endParaRPr b="1" i="0" sz="900" u="none" cap="none" strike="noStrike">
              <a:solidFill>
                <a:srgbClr val="1D1D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g2e1bb36a27e_3_892"/>
          <p:cNvSpPr txBox="1"/>
          <p:nvPr/>
        </p:nvSpPr>
        <p:spPr>
          <a:xfrm>
            <a:off x="4128598" y="1381509"/>
            <a:ext cx="899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rPr>
              <a:t>MERC</a:t>
            </a:r>
            <a:endParaRPr b="1" i="0" sz="900" u="none" cap="none" strike="noStrike">
              <a:solidFill>
                <a:srgbClr val="1D1D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g2e1bb36a27e_3_892"/>
          <p:cNvSpPr txBox="1"/>
          <p:nvPr/>
        </p:nvSpPr>
        <p:spPr>
          <a:xfrm>
            <a:off x="6674919" y="1344213"/>
            <a:ext cx="899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rPr>
              <a:t>VEN</a:t>
            </a:r>
            <a:endParaRPr b="1" i="0" sz="900" u="none" cap="none" strike="noStrike">
              <a:solidFill>
                <a:srgbClr val="1D1D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g2e1bb36a27e_3_892"/>
          <p:cNvSpPr txBox="1"/>
          <p:nvPr/>
        </p:nvSpPr>
        <p:spPr>
          <a:xfrm>
            <a:off x="5406791" y="1381509"/>
            <a:ext cx="899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rPr>
              <a:t>GIO</a:t>
            </a:r>
            <a:endParaRPr b="1" i="0" sz="900" u="none" cap="none" strike="noStrike">
              <a:solidFill>
                <a:srgbClr val="1D1D1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g2e1bb36a27e_3_892"/>
          <p:cNvSpPr/>
          <p:nvPr/>
        </p:nvSpPr>
        <p:spPr>
          <a:xfrm>
            <a:off x="5300161" y="1992695"/>
            <a:ext cx="1100100" cy="18066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18.30-19.00</a:t>
            </a:r>
            <a:r>
              <a:rPr b="0" i="0" lang="en" sz="9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Riepilogo</a:t>
            </a:r>
            <a:endParaRPr b="0" i="0" sz="8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19.00 - 21.30 </a:t>
            </a:r>
            <a:r>
              <a:rPr b="0" i="0" lang="en" sz="9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Lezione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2e1bb36a27e_3_892"/>
          <p:cNvSpPr/>
          <p:nvPr/>
        </p:nvSpPr>
        <p:spPr>
          <a:xfrm>
            <a:off x="6582400" y="1992682"/>
            <a:ext cx="1100100" cy="1806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Studio individuale</a:t>
            </a:r>
            <a:br>
              <a:rPr b="0" i="0" lang="en" sz="9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r>
              <a:rPr b="0" i="0" lang="en" sz="9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sui materiali</a:t>
            </a:r>
            <a:endParaRPr b="0" i="0" sz="9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+</a:t>
            </a:r>
            <a:endParaRPr b="0" i="0" sz="9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Feedback settimanale</a:t>
            </a:r>
            <a:endParaRPr b="0" i="0" sz="9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03" name="Google Shape;403;g2e1bb36a27e_3_892"/>
          <p:cNvSpPr/>
          <p:nvPr/>
        </p:nvSpPr>
        <p:spPr>
          <a:xfrm>
            <a:off x="2749900" y="1992695"/>
            <a:ext cx="1100100" cy="180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Studio individuale</a:t>
            </a:r>
            <a:br>
              <a:rPr b="0" i="0" lang="en" sz="9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r>
              <a:rPr b="0" i="0" lang="en" sz="9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sui materiali</a:t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g2e1bb36a27e_3_892"/>
          <p:cNvSpPr/>
          <p:nvPr/>
        </p:nvSpPr>
        <p:spPr>
          <a:xfrm>
            <a:off x="4038300" y="1992670"/>
            <a:ext cx="1100100" cy="180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Svolgimento e consegna selfwork</a:t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g2e1bb36a27e_3_892"/>
          <p:cNvSpPr txBox="1"/>
          <p:nvPr/>
        </p:nvSpPr>
        <p:spPr>
          <a:xfrm>
            <a:off x="7653902" y="4595900"/>
            <a:ext cx="1261500" cy="307800"/>
          </a:xfrm>
          <a:prstGeom prst="rect">
            <a:avLst/>
          </a:prstGeom>
          <a:solidFill>
            <a:srgbClr val="FFED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Durata: 6 settimane</a:t>
            </a:r>
            <a:endParaRPr b="0" i="1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10cceee5bb_1_3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EXPERIENCE</a:t>
            </a:r>
            <a:endParaRPr/>
          </a:p>
        </p:txBody>
      </p:sp>
      <p:graphicFrame>
        <p:nvGraphicFramePr>
          <p:cNvPr id="411" name="Google Shape;411;g310cceee5bb_1_3"/>
          <p:cNvGraphicFramePr/>
          <p:nvPr/>
        </p:nvGraphicFramePr>
        <p:xfrm>
          <a:off x="952500" y="91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{CC8BFD60-6F35-40A2-9914-84AD3F691323}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516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Python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Python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 + 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12" name="Google Shape;412;g310cceee5bb_1_3"/>
          <p:cNvSpPr txBox="1"/>
          <p:nvPr/>
        </p:nvSpPr>
        <p:spPr>
          <a:xfrm>
            <a:off x="3856500" y="464750"/>
            <a:ext cx="14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Settimana 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13" name="Google Shape;413;g310cceee5bb_1_3"/>
          <p:cNvGraphicFramePr/>
          <p:nvPr/>
        </p:nvGraphicFramePr>
        <p:xfrm>
          <a:off x="952500" y="240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{CC8BFD60-6F35-40A2-9914-84AD3F691323}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63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OpenAi Api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LLM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Embedding, Vect. Db e RAG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 + 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14" name="Google Shape;414;g310cceee5bb_1_3"/>
          <p:cNvSpPr txBox="1"/>
          <p:nvPr/>
        </p:nvSpPr>
        <p:spPr>
          <a:xfrm>
            <a:off x="3856500" y="1955625"/>
            <a:ext cx="14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Settimana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15" name="Google Shape;415;g310cceee5bb_1_3"/>
          <p:cNvGraphicFramePr/>
          <p:nvPr/>
        </p:nvGraphicFramePr>
        <p:xfrm>
          <a:off x="952500" y="389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{CC8BFD60-6F35-40A2-9914-84AD3F691323}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63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Chunking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AI Assistant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 + 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16" name="Google Shape;416;g310cceee5bb_1_3"/>
          <p:cNvSpPr txBox="1"/>
          <p:nvPr/>
        </p:nvSpPr>
        <p:spPr>
          <a:xfrm>
            <a:off x="3856500" y="3446500"/>
            <a:ext cx="14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Settimana 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17" name="Google Shape;417;g310cceee5bb_1_3"/>
          <p:cNvGrpSpPr/>
          <p:nvPr/>
        </p:nvGrpSpPr>
        <p:grpSpPr>
          <a:xfrm>
            <a:off x="1439972" y="1398313"/>
            <a:ext cx="6360497" cy="394458"/>
            <a:chOff x="1439972" y="1398313"/>
            <a:chExt cx="6360497" cy="394458"/>
          </a:xfrm>
        </p:grpSpPr>
        <p:grpSp>
          <p:nvGrpSpPr>
            <p:cNvPr id="418" name="Google Shape;418;g310cceee5bb_1_3"/>
            <p:cNvGrpSpPr/>
            <p:nvPr/>
          </p:nvGrpSpPr>
          <p:grpSpPr>
            <a:xfrm>
              <a:off x="1439972" y="1404000"/>
              <a:ext cx="352464" cy="388771"/>
              <a:chOff x="1437522" y="1650528"/>
              <a:chExt cx="457507" cy="506344"/>
            </a:xfrm>
          </p:grpSpPr>
          <p:pic>
            <p:nvPicPr>
              <p:cNvPr id="419" name="Google Shape;419;g310cceee5bb_1_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37522" y="1650528"/>
                <a:ext cx="457340" cy="3848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0" name="Google Shape;420;g310cceee5bb_1_3"/>
              <p:cNvSpPr/>
              <p:nvPr/>
            </p:nvSpPr>
            <p:spPr>
              <a:xfrm>
                <a:off x="1437529" y="2059072"/>
                <a:ext cx="457500" cy="97800"/>
              </a:xfrm>
              <a:prstGeom prst="rect">
                <a:avLst/>
              </a:prstGeom>
              <a:solidFill>
                <a:srgbClr val="FFE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LIVE</a:t>
                </a:r>
                <a:endParaRPr sz="50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421" name="Google Shape;421;g310cceee5bb_1_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927506" y="1404000"/>
              <a:ext cx="352454" cy="329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g310cceee5bb_1_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54159" y="1404000"/>
              <a:ext cx="235690" cy="33099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3" name="Google Shape;423;g310cceee5bb_1_3"/>
            <p:cNvGrpSpPr/>
            <p:nvPr/>
          </p:nvGrpSpPr>
          <p:grpSpPr>
            <a:xfrm>
              <a:off x="5796730" y="1404000"/>
              <a:ext cx="352464" cy="388771"/>
              <a:chOff x="1437522" y="1650528"/>
              <a:chExt cx="457507" cy="506344"/>
            </a:xfrm>
          </p:grpSpPr>
          <p:pic>
            <p:nvPicPr>
              <p:cNvPr id="424" name="Google Shape;424;g310cceee5bb_1_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37522" y="1650528"/>
                <a:ext cx="457340" cy="3848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5" name="Google Shape;425;g310cceee5bb_1_3"/>
              <p:cNvSpPr/>
              <p:nvPr/>
            </p:nvSpPr>
            <p:spPr>
              <a:xfrm>
                <a:off x="1437529" y="2059072"/>
                <a:ext cx="457500" cy="97800"/>
              </a:xfrm>
              <a:prstGeom prst="rect">
                <a:avLst/>
              </a:prstGeom>
              <a:solidFill>
                <a:srgbClr val="FFE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LIVE</a:t>
                </a:r>
                <a:endParaRPr sz="50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426" name="Google Shape;426;g310cceee5bb_1_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71908" y="1398313"/>
              <a:ext cx="352454" cy="329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7" name="Google Shape;427;g310cceee5bb_1_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64779" y="1409700"/>
              <a:ext cx="235690" cy="3309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8" name="Google Shape;428;g310cceee5bb_1_3"/>
          <p:cNvGrpSpPr/>
          <p:nvPr/>
        </p:nvGrpSpPr>
        <p:grpSpPr>
          <a:xfrm>
            <a:off x="1440000" y="3001813"/>
            <a:ext cx="6360497" cy="394458"/>
            <a:chOff x="1439972" y="1398313"/>
            <a:chExt cx="6360497" cy="394458"/>
          </a:xfrm>
        </p:grpSpPr>
        <p:grpSp>
          <p:nvGrpSpPr>
            <p:cNvPr id="429" name="Google Shape;429;g310cceee5bb_1_3"/>
            <p:cNvGrpSpPr/>
            <p:nvPr/>
          </p:nvGrpSpPr>
          <p:grpSpPr>
            <a:xfrm>
              <a:off x="1439972" y="1404000"/>
              <a:ext cx="352464" cy="388771"/>
              <a:chOff x="1437522" y="1650528"/>
              <a:chExt cx="457507" cy="506344"/>
            </a:xfrm>
          </p:grpSpPr>
          <p:pic>
            <p:nvPicPr>
              <p:cNvPr id="430" name="Google Shape;430;g310cceee5bb_1_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37522" y="1650528"/>
                <a:ext cx="457340" cy="3848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1" name="Google Shape;431;g310cceee5bb_1_3"/>
              <p:cNvSpPr/>
              <p:nvPr/>
            </p:nvSpPr>
            <p:spPr>
              <a:xfrm>
                <a:off x="1437529" y="2059072"/>
                <a:ext cx="457500" cy="97800"/>
              </a:xfrm>
              <a:prstGeom prst="rect">
                <a:avLst/>
              </a:prstGeom>
              <a:solidFill>
                <a:srgbClr val="FFE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LIVE</a:t>
                </a:r>
                <a:endParaRPr sz="50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432" name="Google Shape;432;g310cceee5bb_1_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927506" y="1404000"/>
              <a:ext cx="352454" cy="329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g310cceee5bb_1_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54159" y="1404000"/>
              <a:ext cx="235690" cy="33099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34" name="Google Shape;434;g310cceee5bb_1_3"/>
            <p:cNvGrpSpPr/>
            <p:nvPr/>
          </p:nvGrpSpPr>
          <p:grpSpPr>
            <a:xfrm>
              <a:off x="5796730" y="1404000"/>
              <a:ext cx="352464" cy="388771"/>
              <a:chOff x="1437522" y="1650528"/>
              <a:chExt cx="457507" cy="506344"/>
            </a:xfrm>
          </p:grpSpPr>
          <p:pic>
            <p:nvPicPr>
              <p:cNvPr id="435" name="Google Shape;435;g310cceee5bb_1_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37522" y="1650528"/>
                <a:ext cx="457340" cy="3848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6" name="Google Shape;436;g310cceee5bb_1_3"/>
              <p:cNvSpPr/>
              <p:nvPr/>
            </p:nvSpPr>
            <p:spPr>
              <a:xfrm>
                <a:off x="1437529" y="2059072"/>
                <a:ext cx="457500" cy="97800"/>
              </a:xfrm>
              <a:prstGeom prst="rect">
                <a:avLst/>
              </a:prstGeom>
              <a:solidFill>
                <a:srgbClr val="FFE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LIVE</a:t>
                </a:r>
                <a:endParaRPr sz="50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437" name="Google Shape;437;g310cceee5bb_1_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71908" y="1398313"/>
              <a:ext cx="352454" cy="329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8" name="Google Shape;438;g310cceee5bb_1_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64779" y="1409700"/>
              <a:ext cx="235690" cy="3309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9" name="Google Shape;439;g310cceee5bb_1_3"/>
          <p:cNvGrpSpPr/>
          <p:nvPr/>
        </p:nvGrpSpPr>
        <p:grpSpPr>
          <a:xfrm>
            <a:off x="1440000" y="4484738"/>
            <a:ext cx="6360497" cy="394458"/>
            <a:chOff x="1439972" y="1398313"/>
            <a:chExt cx="6360497" cy="394458"/>
          </a:xfrm>
        </p:grpSpPr>
        <p:grpSp>
          <p:nvGrpSpPr>
            <p:cNvPr id="440" name="Google Shape;440;g310cceee5bb_1_3"/>
            <p:cNvGrpSpPr/>
            <p:nvPr/>
          </p:nvGrpSpPr>
          <p:grpSpPr>
            <a:xfrm>
              <a:off x="1439972" y="1404000"/>
              <a:ext cx="352464" cy="388771"/>
              <a:chOff x="1437522" y="1650528"/>
              <a:chExt cx="457507" cy="506344"/>
            </a:xfrm>
          </p:grpSpPr>
          <p:pic>
            <p:nvPicPr>
              <p:cNvPr id="441" name="Google Shape;441;g310cceee5bb_1_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37522" y="1650528"/>
                <a:ext cx="457340" cy="3848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2" name="Google Shape;442;g310cceee5bb_1_3"/>
              <p:cNvSpPr/>
              <p:nvPr/>
            </p:nvSpPr>
            <p:spPr>
              <a:xfrm>
                <a:off x="1437529" y="2059072"/>
                <a:ext cx="457500" cy="97800"/>
              </a:xfrm>
              <a:prstGeom prst="rect">
                <a:avLst/>
              </a:prstGeom>
              <a:solidFill>
                <a:srgbClr val="FFE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LIVE</a:t>
                </a:r>
                <a:endParaRPr sz="50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443" name="Google Shape;443;g310cceee5bb_1_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927506" y="1404000"/>
              <a:ext cx="352454" cy="329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4" name="Google Shape;444;g310cceee5bb_1_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54159" y="1404000"/>
              <a:ext cx="235690" cy="33099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5" name="Google Shape;445;g310cceee5bb_1_3"/>
            <p:cNvGrpSpPr/>
            <p:nvPr/>
          </p:nvGrpSpPr>
          <p:grpSpPr>
            <a:xfrm>
              <a:off x="5796730" y="1404000"/>
              <a:ext cx="352464" cy="388771"/>
              <a:chOff x="1437522" y="1650528"/>
              <a:chExt cx="457507" cy="506344"/>
            </a:xfrm>
          </p:grpSpPr>
          <p:pic>
            <p:nvPicPr>
              <p:cNvPr id="446" name="Google Shape;446;g310cceee5bb_1_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37522" y="1650528"/>
                <a:ext cx="457340" cy="3848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7" name="Google Shape;447;g310cceee5bb_1_3"/>
              <p:cNvSpPr/>
              <p:nvPr/>
            </p:nvSpPr>
            <p:spPr>
              <a:xfrm>
                <a:off x="1437529" y="2059072"/>
                <a:ext cx="457500" cy="97800"/>
              </a:xfrm>
              <a:prstGeom prst="rect">
                <a:avLst/>
              </a:prstGeom>
              <a:solidFill>
                <a:srgbClr val="FFE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LIVE</a:t>
                </a:r>
                <a:endParaRPr sz="50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448" name="Google Shape;448;g310cceee5bb_1_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71908" y="1398313"/>
              <a:ext cx="352454" cy="329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9" name="Google Shape;449;g310cceee5bb_1_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64779" y="1409700"/>
              <a:ext cx="235690" cy="33099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10cceee5bb_1_46"/>
          <p:cNvSpPr txBox="1"/>
          <p:nvPr>
            <p:ph type="title"/>
          </p:nvPr>
        </p:nvSpPr>
        <p:spPr>
          <a:xfrm>
            <a:off x="228600" y="224750"/>
            <a:ext cx="4343400" cy="168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EXPERIENCE</a:t>
            </a:r>
            <a:endParaRPr/>
          </a:p>
        </p:txBody>
      </p:sp>
      <p:graphicFrame>
        <p:nvGraphicFramePr>
          <p:cNvPr id="455" name="Google Shape;455;g310cceee5bb_1_46"/>
          <p:cNvGraphicFramePr/>
          <p:nvPr/>
        </p:nvGraphicFramePr>
        <p:xfrm>
          <a:off x="952500" y="91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{CC8BFD60-6F35-40A2-9914-84AD3F691323}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63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Ai Search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OpenAi tools e assistant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 + 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56" name="Google Shape;456;g310cceee5bb_1_46"/>
          <p:cNvSpPr txBox="1"/>
          <p:nvPr/>
        </p:nvSpPr>
        <p:spPr>
          <a:xfrm>
            <a:off x="3856500" y="464750"/>
            <a:ext cx="14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Settimana 4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57" name="Google Shape;457;g310cceee5bb_1_46"/>
          <p:cNvGraphicFramePr/>
          <p:nvPr/>
        </p:nvGraphicFramePr>
        <p:xfrm>
          <a:off x="952500" y="240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{CC8BFD60-6F35-40A2-9914-84AD3F691323}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63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FastApi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LangChain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 + 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58" name="Google Shape;458;g310cceee5bb_1_46"/>
          <p:cNvSpPr txBox="1"/>
          <p:nvPr/>
        </p:nvSpPr>
        <p:spPr>
          <a:xfrm>
            <a:off x="3856500" y="1955625"/>
            <a:ext cx="14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Settimana 5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59" name="Google Shape;459;g310cceee5bb_1_46"/>
          <p:cNvGraphicFramePr/>
          <p:nvPr/>
        </p:nvGraphicFramePr>
        <p:xfrm>
          <a:off x="952500" y="389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{CC8BFD60-6F35-40A2-9914-84AD3F691323}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63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LangChain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MCP e Recap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Video Materiale + Selfwork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60" name="Google Shape;460;g310cceee5bb_1_46"/>
          <p:cNvSpPr txBox="1"/>
          <p:nvPr/>
        </p:nvSpPr>
        <p:spPr>
          <a:xfrm>
            <a:off x="3856500" y="3446500"/>
            <a:ext cx="143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Settimana 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61" name="Google Shape;461;g310cceee5bb_1_46"/>
          <p:cNvGrpSpPr/>
          <p:nvPr/>
        </p:nvGrpSpPr>
        <p:grpSpPr>
          <a:xfrm>
            <a:off x="1440000" y="3001813"/>
            <a:ext cx="6360497" cy="394458"/>
            <a:chOff x="1439972" y="1398313"/>
            <a:chExt cx="6360497" cy="394458"/>
          </a:xfrm>
        </p:grpSpPr>
        <p:grpSp>
          <p:nvGrpSpPr>
            <p:cNvPr id="462" name="Google Shape;462;g310cceee5bb_1_46"/>
            <p:cNvGrpSpPr/>
            <p:nvPr/>
          </p:nvGrpSpPr>
          <p:grpSpPr>
            <a:xfrm>
              <a:off x="1439972" y="1404000"/>
              <a:ext cx="352464" cy="388771"/>
              <a:chOff x="1437522" y="1650528"/>
              <a:chExt cx="457507" cy="506344"/>
            </a:xfrm>
          </p:grpSpPr>
          <p:pic>
            <p:nvPicPr>
              <p:cNvPr id="463" name="Google Shape;463;g310cceee5bb_1_4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37522" y="1650528"/>
                <a:ext cx="457340" cy="3848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4" name="Google Shape;464;g310cceee5bb_1_46"/>
              <p:cNvSpPr/>
              <p:nvPr/>
            </p:nvSpPr>
            <p:spPr>
              <a:xfrm>
                <a:off x="1437529" y="2059072"/>
                <a:ext cx="457500" cy="97800"/>
              </a:xfrm>
              <a:prstGeom prst="rect">
                <a:avLst/>
              </a:prstGeom>
              <a:solidFill>
                <a:srgbClr val="FFE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LIVE</a:t>
                </a:r>
                <a:endParaRPr sz="50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465" name="Google Shape;465;g310cceee5bb_1_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927506" y="1404000"/>
              <a:ext cx="352454" cy="329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6" name="Google Shape;466;g310cceee5bb_1_4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54159" y="1404000"/>
              <a:ext cx="235690" cy="33099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67" name="Google Shape;467;g310cceee5bb_1_46"/>
            <p:cNvGrpSpPr/>
            <p:nvPr/>
          </p:nvGrpSpPr>
          <p:grpSpPr>
            <a:xfrm>
              <a:off x="5796730" y="1404000"/>
              <a:ext cx="352464" cy="388771"/>
              <a:chOff x="1437522" y="1650528"/>
              <a:chExt cx="457507" cy="506344"/>
            </a:xfrm>
          </p:grpSpPr>
          <p:pic>
            <p:nvPicPr>
              <p:cNvPr id="468" name="Google Shape;468;g310cceee5bb_1_4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37522" y="1650528"/>
                <a:ext cx="457340" cy="3848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9" name="Google Shape;469;g310cceee5bb_1_46"/>
              <p:cNvSpPr/>
              <p:nvPr/>
            </p:nvSpPr>
            <p:spPr>
              <a:xfrm>
                <a:off x="1437529" y="2059072"/>
                <a:ext cx="457500" cy="97800"/>
              </a:xfrm>
              <a:prstGeom prst="rect">
                <a:avLst/>
              </a:prstGeom>
              <a:solidFill>
                <a:srgbClr val="FFE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LIVE</a:t>
                </a:r>
                <a:endParaRPr sz="50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470" name="Google Shape;470;g310cceee5bb_1_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71908" y="1398313"/>
              <a:ext cx="352454" cy="329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1" name="Google Shape;471;g310cceee5bb_1_4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64779" y="1409700"/>
              <a:ext cx="235690" cy="3309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2" name="Google Shape;472;g310cceee5bb_1_46"/>
          <p:cNvGrpSpPr/>
          <p:nvPr/>
        </p:nvGrpSpPr>
        <p:grpSpPr>
          <a:xfrm>
            <a:off x="1440000" y="1609013"/>
            <a:ext cx="6360497" cy="394458"/>
            <a:chOff x="1439972" y="1398313"/>
            <a:chExt cx="6360497" cy="394458"/>
          </a:xfrm>
        </p:grpSpPr>
        <p:grpSp>
          <p:nvGrpSpPr>
            <p:cNvPr id="473" name="Google Shape;473;g310cceee5bb_1_46"/>
            <p:cNvGrpSpPr/>
            <p:nvPr/>
          </p:nvGrpSpPr>
          <p:grpSpPr>
            <a:xfrm>
              <a:off x="1439972" y="1404000"/>
              <a:ext cx="352464" cy="388771"/>
              <a:chOff x="1437522" y="1650528"/>
              <a:chExt cx="457507" cy="506344"/>
            </a:xfrm>
          </p:grpSpPr>
          <p:pic>
            <p:nvPicPr>
              <p:cNvPr id="474" name="Google Shape;474;g310cceee5bb_1_4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37522" y="1650528"/>
                <a:ext cx="457340" cy="3848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5" name="Google Shape;475;g310cceee5bb_1_46"/>
              <p:cNvSpPr/>
              <p:nvPr/>
            </p:nvSpPr>
            <p:spPr>
              <a:xfrm>
                <a:off x="1437529" y="2059072"/>
                <a:ext cx="457500" cy="97800"/>
              </a:xfrm>
              <a:prstGeom prst="rect">
                <a:avLst/>
              </a:prstGeom>
              <a:solidFill>
                <a:srgbClr val="FFE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LIVE</a:t>
                </a:r>
                <a:endParaRPr sz="50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476" name="Google Shape;476;g310cceee5bb_1_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927506" y="1404000"/>
              <a:ext cx="352454" cy="329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7" name="Google Shape;477;g310cceee5bb_1_4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54159" y="1404000"/>
              <a:ext cx="235690" cy="33099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78" name="Google Shape;478;g310cceee5bb_1_46"/>
            <p:cNvGrpSpPr/>
            <p:nvPr/>
          </p:nvGrpSpPr>
          <p:grpSpPr>
            <a:xfrm>
              <a:off x="5796730" y="1404000"/>
              <a:ext cx="352464" cy="388771"/>
              <a:chOff x="1437522" y="1650528"/>
              <a:chExt cx="457507" cy="506344"/>
            </a:xfrm>
          </p:grpSpPr>
          <p:pic>
            <p:nvPicPr>
              <p:cNvPr id="479" name="Google Shape;479;g310cceee5bb_1_4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37522" y="1650528"/>
                <a:ext cx="457340" cy="3848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0" name="Google Shape;480;g310cceee5bb_1_46"/>
              <p:cNvSpPr/>
              <p:nvPr/>
            </p:nvSpPr>
            <p:spPr>
              <a:xfrm>
                <a:off x="1437529" y="2059072"/>
                <a:ext cx="457500" cy="97800"/>
              </a:xfrm>
              <a:prstGeom prst="rect">
                <a:avLst/>
              </a:prstGeom>
              <a:solidFill>
                <a:srgbClr val="FFE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LIVE</a:t>
                </a:r>
                <a:endParaRPr sz="50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481" name="Google Shape;481;g310cceee5bb_1_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71908" y="1398313"/>
              <a:ext cx="352454" cy="329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2" name="Google Shape;482;g310cceee5bb_1_4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64779" y="1409700"/>
              <a:ext cx="235690" cy="3309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3" name="Google Shape;483;g310cceee5bb_1_46"/>
          <p:cNvGrpSpPr/>
          <p:nvPr/>
        </p:nvGrpSpPr>
        <p:grpSpPr>
          <a:xfrm>
            <a:off x="1440000" y="4459913"/>
            <a:ext cx="6360497" cy="394458"/>
            <a:chOff x="1439972" y="1398313"/>
            <a:chExt cx="6360497" cy="394458"/>
          </a:xfrm>
        </p:grpSpPr>
        <p:grpSp>
          <p:nvGrpSpPr>
            <p:cNvPr id="484" name="Google Shape;484;g310cceee5bb_1_46"/>
            <p:cNvGrpSpPr/>
            <p:nvPr/>
          </p:nvGrpSpPr>
          <p:grpSpPr>
            <a:xfrm>
              <a:off x="1439972" y="1404000"/>
              <a:ext cx="352464" cy="388771"/>
              <a:chOff x="1437522" y="1650528"/>
              <a:chExt cx="457507" cy="506344"/>
            </a:xfrm>
          </p:grpSpPr>
          <p:pic>
            <p:nvPicPr>
              <p:cNvPr id="485" name="Google Shape;485;g310cceee5bb_1_4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37522" y="1650528"/>
                <a:ext cx="457340" cy="3848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6" name="Google Shape;486;g310cceee5bb_1_46"/>
              <p:cNvSpPr/>
              <p:nvPr/>
            </p:nvSpPr>
            <p:spPr>
              <a:xfrm>
                <a:off x="1437529" y="2059072"/>
                <a:ext cx="457500" cy="97800"/>
              </a:xfrm>
              <a:prstGeom prst="rect">
                <a:avLst/>
              </a:prstGeom>
              <a:solidFill>
                <a:srgbClr val="FFE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LIVE</a:t>
                </a:r>
                <a:endParaRPr sz="50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487" name="Google Shape;487;g310cceee5bb_1_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927506" y="1404000"/>
              <a:ext cx="352454" cy="329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8" name="Google Shape;488;g310cceee5bb_1_4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54159" y="1404000"/>
              <a:ext cx="235690" cy="33099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89" name="Google Shape;489;g310cceee5bb_1_46"/>
            <p:cNvGrpSpPr/>
            <p:nvPr/>
          </p:nvGrpSpPr>
          <p:grpSpPr>
            <a:xfrm>
              <a:off x="5796730" y="1404000"/>
              <a:ext cx="352464" cy="388771"/>
              <a:chOff x="1437522" y="1650528"/>
              <a:chExt cx="457507" cy="506344"/>
            </a:xfrm>
          </p:grpSpPr>
          <p:pic>
            <p:nvPicPr>
              <p:cNvPr id="490" name="Google Shape;490;g310cceee5bb_1_4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37522" y="1650528"/>
                <a:ext cx="457340" cy="3848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1" name="Google Shape;491;g310cceee5bb_1_46"/>
              <p:cNvSpPr/>
              <p:nvPr/>
            </p:nvSpPr>
            <p:spPr>
              <a:xfrm>
                <a:off x="1437529" y="2059072"/>
                <a:ext cx="457500" cy="97800"/>
              </a:xfrm>
              <a:prstGeom prst="rect">
                <a:avLst/>
              </a:prstGeom>
              <a:solidFill>
                <a:srgbClr val="FFE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LIVE</a:t>
                </a:r>
                <a:endParaRPr sz="50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pic>
          <p:nvPicPr>
            <p:cNvPr id="492" name="Google Shape;492;g310cceee5bb_1_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71908" y="1398313"/>
              <a:ext cx="352454" cy="329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g310cceee5bb_1_4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64779" y="1409700"/>
              <a:ext cx="235690" cy="33099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3acdd3b147_0_49"/>
          <p:cNvSpPr txBox="1"/>
          <p:nvPr>
            <p:ph idx="1" type="body"/>
          </p:nvPr>
        </p:nvSpPr>
        <p:spPr>
          <a:xfrm>
            <a:off x="1181400" y="1683400"/>
            <a:ext cx="6781200" cy="1786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latin typeface="Montserrat"/>
                <a:ea typeface="Montserrat"/>
                <a:cs typeface="Montserrat"/>
                <a:sym typeface="Montserrat"/>
              </a:rPr>
              <a:t>“TALK IS CHEAP</a:t>
            </a:r>
            <a:endParaRPr b="1" sz="3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latin typeface="Montserrat"/>
                <a:ea typeface="Montserrat"/>
                <a:cs typeface="Montserrat"/>
                <a:sym typeface="Montserrat"/>
              </a:rPr>
              <a:t>SHOW ME THE CODE”</a:t>
            </a:r>
            <a:endParaRPr b="1" sz="3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g33acdd3b147_0_49"/>
          <p:cNvSpPr txBox="1"/>
          <p:nvPr/>
        </p:nvSpPr>
        <p:spPr>
          <a:xfrm>
            <a:off x="5222750" y="3088000"/>
            <a:ext cx="16857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cit. </a:t>
            </a:r>
            <a:r>
              <a:rPr lang="en">
                <a:solidFill>
                  <a:schemeClr val="lt1"/>
                </a:solidFill>
              </a:rPr>
              <a:t>Linus Torvalds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acdd3b147_0_6"/>
          <p:cNvSpPr txBox="1"/>
          <p:nvPr>
            <p:ph idx="2" type="title"/>
          </p:nvPr>
        </p:nvSpPr>
        <p:spPr>
          <a:xfrm>
            <a:off x="346000" y="450555"/>
            <a:ext cx="27993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dk1"/>
                </a:solidFill>
              </a:rPr>
              <a:t>RAG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g33acdd3b147_0_6"/>
          <p:cNvSpPr txBox="1"/>
          <p:nvPr/>
        </p:nvSpPr>
        <p:spPr>
          <a:xfrm>
            <a:off x="346000" y="860475"/>
            <a:ext cx="6168300" cy="3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📌 Retrieval-Augmented Generation (RAG)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RAG</a:t>
            </a:r>
            <a:r>
              <a:rPr lang="en" sz="1300">
                <a:solidFill>
                  <a:schemeClr val="dk1"/>
                </a:solidFill>
              </a:rPr>
              <a:t> è un'architettura AI che combina </a:t>
            </a:r>
            <a:r>
              <a:rPr b="1" lang="en" sz="1300">
                <a:solidFill>
                  <a:schemeClr val="dk1"/>
                </a:solidFill>
              </a:rPr>
              <a:t>retrieval (recupero di informazioni)</a:t>
            </a:r>
            <a:r>
              <a:rPr lang="en" sz="1300">
                <a:solidFill>
                  <a:schemeClr val="dk1"/>
                </a:solidFill>
              </a:rPr>
              <a:t> e </a:t>
            </a:r>
            <a:r>
              <a:rPr b="1" lang="en" sz="1300">
                <a:solidFill>
                  <a:schemeClr val="dk1"/>
                </a:solidFill>
              </a:rPr>
              <a:t>generazione di testo</a:t>
            </a:r>
            <a:r>
              <a:rPr lang="en" sz="1300">
                <a:solidFill>
                  <a:schemeClr val="dk1"/>
                </a:solidFill>
              </a:rPr>
              <a:t> per migliorare le risposte di un modello linguistico.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🔹 </a:t>
            </a:r>
            <a:r>
              <a:rPr b="1" lang="en" sz="1300">
                <a:solidFill>
                  <a:schemeClr val="dk1"/>
                </a:solidFill>
              </a:rPr>
              <a:t>Retrieval</a:t>
            </a:r>
            <a:r>
              <a:rPr lang="en" sz="1300">
                <a:solidFill>
                  <a:schemeClr val="dk1"/>
                </a:solidFill>
              </a:rPr>
              <a:t> → Recupera informazioni pertinenti da fonti esterne (es. database, documenti, API).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🔹 </a:t>
            </a:r>
            <a:r>
              <a:rPr b="1" lang="en" sz="1300">
                <a:solidFill>
                  <a:schemeClr val="dk1"/>
                </a:solidFill>
              </a:rPr>
              <a:t>Generation</a:t>
            </a:r>
            <a:r>
              <a:rPr lang="en" sz="1300">
                <a:solidFill>
                  <a:schemeClr val="dk1"/>
                </a:solidFill>
              </a:rPr>
              <a:t> → Utilizza un modello di AI (es. GPT) per generare risposte basate sui dati recuperati.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✅ </a:t>
            </a:r>
            <a:r>
              <a:rPr b="1" lang="en" sz="1300">
                <a:solidFill>
                  <a:schemeClr val="dk1"/>
                </a:solidFill>
              </a:rPr>
              <a:t>Vantaggi:</a:t>
            </a:r>
            <a:br>
              <a:rPr b="1"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✔️ Risposte più accurate e aggiornate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✔️ Accesso a dati dinamici esterni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✔️ Migliore affidabilità rispetto ai modelli generativi standalone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🚀 </a:t>
            </a:r>
            <a:r>
              <a:rPr b="1" lang="en" sz="1300">
                <a:solidFill>
                  <a:schemeClr val="dk1"/>
                </a:solidFill>
              </a:rPr>
              <a:t>Usato in:</a:t>
            </a:r>
            <a:r>
              <a:rPr lang="en" sz="1300">
                <a:solidFill>
                  <a:schemeClr val="dk1"/>
                </a:solidFill>
              </a:rPr>
              <a:t> chatbot avanzati, assistenti virtuali e sistemi di ricerca intelligenti.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3acdd3b147_0_55"/>
          <p:cNvSpPr txBox="1"/>
          <p:nvPr>
            <p:ph idx="2" type="title"/>
          </p:nvPr>
        </p:nvSpPr>
        <p:spPr>
          <a:xfrm>
            <a:off x="346000" y="450550"/>
            <a:ext cx="3540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dk1"/>
                </a:solidFill>
              </a:rPr>
              <a:t>RAG - HR Assistant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11" name="Google Shape;511;g33acdd3b147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400" y="879400"/>
            <a:ext cx="5329197" cy="409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3acdd3b147_0_31"/>
          <p:cNvSpPr txBox="1"/>
          <p:nvPr>
            <p:ph idx="2" type="title"/>
          </p:nvPr>
        </p:nvSpPr>
        <p:spPr>
          <a:xfrm>
            <a:off x="346000" y="450550"/>
            <a:ext cx="3540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dk1"/>
                </a:solidFill>
              </a:rPr>
              <a:t>RAG</a:t>
            </a:r>
            <a:r>
              <a:rPr lang="en">
                <a:solidFill>
                  <a:schemeClr val="dk1"/>
                </a:solidFill>
              </a:rPr>
              <a:t> - InfoSegugio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17" name="Google Shape;517;g33acdd3b147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263" y="898750"/>
            <a:ext cx="5969469" cy="409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3acdd3b147_0_24"/>
          <p:cNvSpPr txBox="1"/>
          <p:nvPr>
            <p:ph idx="2" type="title"/>
          </p:nvPr>
        </p:nvSpPr>
        <p:spPr>
          <a:xfrm>
            <a:off x="346000" y="450555"/>
            <a:ext cx="27993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dk1"/>
                </a:solidFill>
              </a:rPr>
              <a:t>AGENTIC APPLICATION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3" name="Google Shape;523;g33acdd3b147_0_24"/>
          <p:cNvSpPr txBox="1"/>
          <p:nvPr/>
        </p:nvSpPr>
        <p:spPr>
          <a:xfrm>
            <a:off x="346000" y="860475"/>
            <a:ext cx="6168300" cy="40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📌 </a:t>
            </a:r>
            <a:r>
              <a:rPr lang="en" sz="1300">
                <a:solidFill>
                  <a:schemeClr val="dk1"/>
                </a:solidFill>
              </a:rPr>
              <a:t>Un'</a:t>
            </a:r>
            <a:r>
              <a:rPr b="1" lang="en" sz="1300">
                <a:solidFill>
                  <a:schemeClr val="dk1"/>
                </a:solidFill>
              </a:rPr>
              <a:t>Agentic Application</a:t>
            </a:r>
            <a:r>
              <a:rPr lang="en" sz="1300">
                <a:solidFill>
                  <a:schemeClr val="dk1"/>
                </a:solidFill>
              </a:rPr>
              <a:t> è un sistema AI in grado di </a:t>
            </a:r>
            <a:r>
              <a:rPr b="1" lang="en" sz="1300">
                <a:solidFill>
                  <a:schemeClr val="dk1"/>
                </a:solidFill>
              </a:rPr>
              <a:t>prendere decisioni autonome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b="1" lang="en" sz="1300">
                <a:solidFill>
                  <a:schemeClr val="dk1"/>
                </a:solidFill>
              </a:rPr>
              <a:t>interagire con altri sistemi</a:t>
            </a:r>
            <a:r>
              <a:rPr lang="en" sz="1300">
                <a:solidFill>
                  <a:schemeClr val="dk1"/>
                </a:solidFill>
              </a:rPr>
              <a:t> e </a:t>
            </a:r>
            <a:r>
              <a:rPr b="1" lang="en" sz="1300">
                <a:solidFill>
                  <a:schemeClr val="dk1"/>
                </a:solidFill>
              </a:rPr>
              <a:t>eseguire azioni</a:t>
            </a:r>
            <a:r>
              <a:rPr lang="en" sz="1300">
                <a:solidFill>
                  <a:schemeClr val="dk1"/>
                </a:solidFill>
              </a:rPr>
              <a:t> senza necessità di input costante dall'utente.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🔹 </a:t>
            </a:r>
            <a:r>
              <a:rPr b="1" lang="en" sz="1300">
                <a:solidFill>
                  <a:schemeClr val="dk1"/>
                </a:solidFill>
              </a:rPr>
              <a:t>Comprensione</a:t>
            </a:r>
            <a:r>
              <a:rPr lang="en" sz="1300">
                <a:solidFill>
                  <a:schemeClr val="dk1"/>
                </a:solidFill>
              </a:rPr>
              <a:t> → Analizza l'intento dell'utente.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🔹 </a:t>
            </a:r>
            <a:r>
              <a:rPr b="1" lang="en" sz="1300">
                <a:solidFill>
                  <a:schemeClr val="dk1"/>
                </a:solidFill>
              </a:rPr>
              <a:t>Pianificazione</a:t>
            </a:r>
            <a:r>
              <a:rPr lang="en" sz="1300">
                <a:solidFill>
                  <a:schemeClr val="dk1"/>
                </a:solidFill>
              </a:rPr>
              <a:t> → Decide quali azioni eseguire.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🔹 </a:t>
            </a:r>
            <a:r>
              <a:rPr b="1" lang="en" sz="1300">
                <a:solidFill>
                  <a:schemeClr val="dk1"/>
                </a:solidFill>
              </a:rPr>
              <a:t>Esecuzione</a:t>
            </a:r>
            <a:r>
              <a:rPr lang="en" sz="1300">
                <a:solidFill>
                  <a:schemeClr val="dk1"/>
                </a:solidFill>
              </a:rPr>
              <a:t> → Interagisce con API, database e servizi esterni.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🔹 </a:t>
            </a:r>
            <a:r>
              <a:rPr b="1" lang="en" sz="1300">
                <a:solidFill>
                  <a:schemeClr val="dk1"/>
                </a:solidFill>
              </a:rPr>
              <a:t>Memoria</a:t>
            </a:r>
            <a:r>
              <a:rPr lang="en" sz="1300">
                <a:solidFill>
                  <a:schemeClr val="dk1"/>
                </a:solidFill>
              </a:rPr>
              <a:t> → Mantiene il contesto per azioni future.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✅ </a:t>
            </a:r>
            <a:r>
              <a:rPr b="1" lang="en" sz="1300">
                <a:solidFill>
                  <a:schemeClr val="dk1"/>
                </a:solidFill>
              </a:rPr>
              <a:t>Vantaggi:</a:t>
            </a:r>
            <a:br>
              <a:rPr b="1"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✔️ Automazione avanzata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✔️ Interazioni più naturali e intelligenti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✔️ Adattabilità e apprendimento continuo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🚀 </a:t>
            </a:r>
            <a:r>
              <a:rPr b="1" lang="en" sz="1300">
                <a:solidFill>
                  <a:schemeClr val="dk1"/>
                </a:solidFill>
              </a:rPr>
              <a:t>Usato in:</a:t>
            </a:r>
            <a:r>
              <a:rPr lang="en" sz="1300">
                <a:solidFill>
                  <a:schemeClr val="dk1"/>
                </a:solidFill>
              </a:rPr>
              <a:t> assistenti AI, workflow autonomi, sistemi di raccomandazione e automazione industriale.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3acdd3b147_0_37"/>
          <p:cNvSpPr txBox="1"/>
          <p:nvPr>
            <p:ph idx="2" type="title"/>
          </p:nvPr>
        </p:nvSpPr>
        <p:spPr>
          <a:xfrm>
            <a:off x="346000" y="450550"/>
            <a:ext cx="44688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dk1"/>
                </a:solidFill>
              </a:rPr>
              <a:t>AGENTIC APPLICATION - Travel Agent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29" name="Google Shape;529;g33acdd3b147_0_37"/>
          <p:cNvPicPr preferRelativeResize="0"/>
          <p:nvPr/>
        </p:nvPicPr>
        <p:blipFill rotWithShape="1">
          <a:blip r:embed="rId3">
            <a:alphaModFix/>
          </a:blip>
          <a:srcRect b="0" l="0" r="0" t="7002"/>
          <a:stretch/>
        </p:blipFill>
        <p:spPr>
          <a:xfrm>
            <a:off x="1374050" y="1200150"/>
            <a:ext cx="6395927" cy="35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acdd3b147_0_43"/>
          <p:cNvSpPr txBox="1"/>
          <p:nvPr>
            <p:ph idx="2" type="title"/>
          </p:nvPr>
        </p:nvSpPr>
        <p:spPr>
          <a:xfrm>
            <a:off x="346000" y="450550"/>
            <a:ext cx="462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dk1"/>
                </a:solidFill>
              </a:rPr>
              <a:t>AGENTIC APPLICATION - SpotiGiPiFy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35" name="Google Shape;535;g33acdd3b147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0713" y="1112250"/>
            <a:ext cx="6002573" cy="363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3acdd3b147_0_61"/>
          <p:cNvSpPr txBox="1"/>
          <p:nvPr>
            <p:ph idx="2" type="title"/>
          </p:nvPr>
        </p:nvSpPr>
        <p:spPr>
          <a:xfrm>
            <a:off x="346000" y="450550"/>
            <a:ext cx="5203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dk1"/>
                </a:solidFill>
              </a:rPr>
              <a:t>AGENTIC APPLICATION - Aulab AI Assistant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41" name="Google Shape;541;g33acdd3b147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738" y="860075"/>
            <a:ext cx="6208525" cy="409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7"/>
          <p:cNvSpPr txBox="1"/>
          <p:nvPr/>
        </p:nvSpPr>
        <p:spPr>
          <a:xfrm>
            <a:off x="1844700" y="2571750"/>
            <a:ext cx="28044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Aulab S.r.l.</a:t>
            </a:r>
            <a:endParaRPr b="1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7" name="Google Shape;547;p17"/>
          <p:cNvSpPr txBox="1"/>
          <p:nvPr/>
        </p:nvSpPr>
        <p:spPr>
          <a:xfrm>
            <a:off x="1844700" y="2945825"/>
            <a:ext cx="28044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Strada S. Giorgio Martire, 2D</a:t>
            </a:r>
            <a:endParaRPr b="0" i="0" sz="1050" u="none" cap="none" strike="noStrike">
              <a:solidFill>
                <a:srgbClr val="1D1D1B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70124 Bari (BA)</a:t>
            </a:r>
            <a:endParaRPr b="0" i="0" sz="1050" u="none" cap="none" strike="noStrike">
              <a:solidFill>
                <a:srgbClr val="1D1D1B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D1D1B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b="0" i="0" lang="en" sz="105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aulab.it</a:t>
            </a:r>
            <a:endParaRPr b="0" i="0" sz="1050" u="none" cap="none" strike="noStrike">
              <a:solidFill>
                <a:srgbClr val="1D1D1B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b="0" i="0" lang="en" sz="105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 aulab@aulab.it</a:t>
            </a:r>
            <a:endParaRPr b="0" i="0" sz="1050" u="none" cap="none" strike="noStrike">
              <a:solidFill>
                <a:srgbClr val="1D1D1B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D1D1B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b="0" i="0" lang="en" sz="1050" u="none" cap="none" strike="noStrike">
                <a:solidFill>
                  <a:srgbClr val="1D1D1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+39 392 602 46 21</a:t>
            </a:r>
            <a:endParaRPr b="0" i="0" sz="1150" u="none" cap="none" strike="noStrike">
              <a:solidFill>
                <a:srgbClr val="1D1D1B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ulab PPT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